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IBM Plex Sans"/>
      <p:regular r:id="rId14"/>
      <p:bold r:id="rId15"/>
      <p:italic r:id="rId16"/>
      <p:boldItalic r:id="rId17"/>
    </p:embeddedFont>
    <p:embeddedFont>
      <p:font typeface="Garamond"/>
      <p:regular r:id="rId18"/>
      <p:bold r:id="rId19"/>
      <p:italic r:id="rId20"/>
      <p:boldItalic r:id="rId21"/>
    </p:embeddedFont>
    <p:embeddedFont>
      <p:font typeface="Oswald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aramond-italic.fntdata"/><Relationship Id="rId11" Type="http://schemas.openxmlformats.org/officeDocument/2006/relationships/slide" Target="slides/slide5.xml"/><Relationship Id="rId22" Type="http://schemas.openxmlformats.org/officeDocument/2006/relationships/font" Target="fonts/Oswald-regular.fntdata"/><Relationship Id="rId10" Type="http://schemas.openxmlformats.org/officeDocument/2006/relationships/slide" Target="slides/slide4.xml"/><Relationship Id="rId21" Type="http://schemas.openxmlformats.org/officeDocument/2006/relationships/font" Target="fonts/Garamond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Oswa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IBMPlexSans-bold.fntdata"/><Relationship Id="rId14" Type="http://schemas.openxmlformats.org/officeDocument/2006/relationships/font" Target="fonts/IBMPlexSans-regular.fntdata"/><Relationship Id="rId17" Type="http://schemas.openxmlformats.org/officeDocument/2006/relationships/font" Target="fonts/IBMPlexSans-boldItalic.fntdata"/><Relationship Id="rId16" Type="http://schemas.openxmlformats.org/officeDocument/2006/relationships/font" Target="fonts/IBMPlexSans-italic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Garamond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Garamon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d8f783553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7d8f783553_2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d8f783553_2_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0" name="Google Shape;140;g37d8f783553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7d8f783553_2_8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d8f783553_2_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4" name="Google Shape;174;g37d8f783553_2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7d8f783553_2_9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7d8f783553_2_1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3" name="Google Shape;213;g37d8f783553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7d8f783553_2_10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7d8f783553_2_1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2" name="Google Shape;232;g37d8f783553_2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7d8f783553_2_1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7d8f783553_2_1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9" name="Google Shape;249;g37d8f783553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7d8f783553_2_1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8a364f18d3_2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8a364f18d3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7200" y="821531"/>
            <a:ext cx="8229600" cy="37730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3305177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3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200152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48200" y="1200152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1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90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1" y="1076327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685455" y="-1406723"/>
            <a:ext cx="3773091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821531"/>
            <a:ext cx="8229600" cy="37730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10" Type="http://schemas.openxmlformats.org/officeDocument/2006/relationships/image" Target="../media/image14.png"/><Relationship Id="rId9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hyperlink" Target="https://www.pib.gov.in/PressReleseDetailm.aspx?PRID=2112011" TargetMode="External"/><Relationship Id="rId6" Type="http://schemas.openxmlformats.org/officeDocument/2006/relationships/hyperlink" Target="https://en.wikipedia.org/wiki/Recommender_system?utm_source=chatgpt.com#Approache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1143000" y="0"/>
            <a:ext cx="6858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753950" y="1414000"/>
            <a:ext cx="8190000" cy="3286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1" name="Google Shape;131;p25"/>
          <p:cNvSpPr/>
          <p:nvPr/>
        </p:nvSpPr>
        <p:spPr>
          <a:xfrm>
            <a:off x="4242585" y="638641"/>
            <a:ext cx="3478954" cy="3866225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1"/>
            </a:srgbClr>
          </a:solidFill>
          <a:ln>
            <a:noFill/>
          </a:ln>
          <a:effectLst>
            <a:reflection blurRad="0" dir="5400000" dist="38100" endA="0" endPos="30000" fadeDir="5400012" kx="0" rotWithShape="0" algn="bl" stA="40000" stPos="0" sy="-100000" ky="0"/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25"/>
          <p:cNvPicPr preferRelativeResize="0"/>
          <p:nvPr/>
        </p:nvPicPr>
        <p:blipFill rotWithShape="1">
          <a:blip r:embed="rId3">
            <a:alphaModFix amt="20000"/>
          </a:blip>
          <a:srcRect b="0" l="0" r="59916" t="0"/>
          <a:stretch/>
        </p:blipFill>
        <p:spPr>
          <a:xfrm>
            <a:off x="5141168" y="1286911"/>
            <a:ext cx="2402632" cy="256967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5"/>
          <p:cNvSpPr txBox="1"/>
          <p:nvPr>
            <p:ph idx="1" type="subTitle"/>
          </p:nvPr>
        </p:nvSpPr>
        <p:spPr>
          <a:xfrm>
            <a:off x="934264" y="486461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25"/>
          <p:cNvSpPr txBox="1"/>
          <p:nvPr>
            <p:ph type="ctrTitle"/>
          </p:nvPr>
        </p:nvSpPr>
        <p:spPr>
          <a:xfrm>
            <a:off x="685790" y="243607"/>
            <a:ext cx="7772400" cy="15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2025</a:t>
            </a:r>
            <a:endParaRPr b="1" sz="3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35" name="Google Shape;135;p25"/>
          <p:cNvSpPr txBox="1"/>
          <p:nvPr/>
        </p:nvSpPr>
        <p:spPr>
          <a:xfrm>
            <a:off x="1317400" y="1584175"/>
            <a:ext cx="8190000" cy="26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       : SIH25034</a:t>
            </a:r>
            <a:endParaRPr sz="700"/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</a:t>
            </a:r>
            <a:r>
              <a:rPr b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  : Ai </a:t>
            </a:r>
            <a:r>
              <a:rPr b="1" lang="en">
                <a:solidFill>
                  <a:schemeClr val="dk1"/>
                </a:solidFill>
              </a:rPr>
              <a:t>Based Recommendation Engine For PM Internship Scheme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                              </a:t>
            </a:r>
            <a:r>
              <a:rPr b="1" lang="en">
                <a:solidFill>
                  <a:schemeClr val="dk1"/>
                </a:solidFill>
              </a:rPr>
              <a:t>  </a:t>
            </a:r>
            <a:r>
              <a:rPr b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Smart Education</a:t>
            </a:r>
            <a:endParaRPr sz="700"/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                      : Software</a:t>
            </a:r>
            <a:endParaRPr sz="700"/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                            </a:t>
            </a:r>
            <a:r>
              <a:rPr b="1" lang="en">
                <a:solidFill>
                  <a:schemeClr val="dk1"/>
                </a:solidFill>
              </a:rPr>
              <a:t>  </a:t>
            </a:r>
            <a:r>
              <a:rPr b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CTPG11</a:t>
            </a:r>
            <a:endParaRPr sz="700"/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                       : Pixel Pirates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s://www.sih.gov.in/img1/SIH-Logo.png" id="136" name="Google Shape;13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3574" y="-2"/>
            <a:ext cx="1656840" cy="84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5"/>
          <p:cNvSpPr txBox="1"/>
          <p:nvPr/>
        </p:nvSpPr>
        <p:spPr>
          <a:xfrm>
            <a:off x="5395700" y="2312825"/>
            <a:ext cx="378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/>
          <p:nvPr/>
        </p:nvSpPr>
        <p:spPr>
          <a:xfrm>
            <a:off x="552725" y="676150"/>
            <a:ext cx="8429700" cy="11112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4" name="Google Shape;144;p26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6"/>
          <p:cNvSpPr txBox="1"/>
          <p:nvPr>
            <p:ph type="title"/>
          </p:nvPr>
        </p:nvSpPr>
        <p:spPr>
          <a:xfrm>
            <a:off x="407900" y="-220212"/>
            <a:ext cx="8208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AI-Based Internship Recommendation Engine for PM Internship Scheme</a:t>
            </a:r>
            <a:endParaRPr sz="600"/>
          </a:p>
        </p:txBody>
      </p:sp>
      <p:sp>
        <p:nvSpPr>
          <p:cNvPr id="146" name="Google Shape;146;p26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7" name="Google Shape;147;p26"/>
          <p:cNvSpPr txBox="1"/>
          <p:nvPr>
            <p:ph idx="11" type="ftr"/>
          </p:nvPr>
        </p:nvSpPr>
        <p:spPr>
          <a:xfrm>
            <a:off x="3486150" y="4767265"/>
            <a:ext cx="2403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48" name="Google Shape;148;p26"/>
          <p:cNvSpPr/>
          <p:nvPr/>
        </p:nvSpPr>
        <p:spPr>
          <a:xfrm>
            <a:off x="0" y="0"/>
            <a:ext cx="792600" cy="4170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Pixel pirates</a:t>
            </a:r>
            <a:endParaRPr b="1" sz="9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www.sih.gov.in/img1/SIH-Logo.png" id="149" name="Google Shape;1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6850" y="55050"/>
            <a:ext cx="693250" cy="471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26"/>
          <p:cNvGrpSpPr/>
          <p:nvPr/>
        </p:nvGrpSpPr>
        <p:grpSpPr>
          <a:xfrm>
            <a:off x="407899" y="1923938"/>
            <a:ext cx="2918345" cy="2703828"/>
            <a:chOff x="376499" y="1715438"/>
            <a:chExt cx="2918345" cy="2703828"/>
          </a:xfrm>
        </p:grpSpPr>
        <p:sp>
          <p:nvSpPr>
            <p:cNvPr id="151" name="Google Shape;151;p26"/>
            <p:cNvSpPr/>
            <p:nvPr/>
          </p:nvSpPr>
          <p:spPr>
            <a:xfrm>
              <a:off x="463978" y="1871960"/>
              <a:ext cx="2830866" cy="2547307"/>
            </a:xfrm>
            <a:prstGeom prst="roundRect">
              <a:avLst>
                <a:gd fmla="val 16667" name="adj"/>
              </a:avLst>
            </a:prstGeom>
            <a:solidFill>
              <a:srgbClr val="C9DAF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52" name="Google Shape;152;p26"/>
            <p:cNvSpPr/>
            <p:nvPr/>
          </p:nvSpPr>
          <p:spPr>
            <a:xfrm>
              <a:off x="901941" y="1738720"/>
              <a:ext cx="1921200" cy="399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53" name="Google Shape;153;p26"/>
            <p:cNvSpPr txBox="1"/>
            <p:nvPr/>
          </p:nvSpPr>
          <p:spPr>
            <a:xfrm>
              <a:off x="1335209" y="1715438"/>
              <a:ext cx="13203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38761D"/>
                  </a:solidFill>
                  <a:latin typeface="Oswald"/>
                  <a:ea typeface="Oswald"/>
                  <a:cs typeface="Oswald"/>
                  <a:sym typeface="Oswald"/>
                </a:rPr>
                <a:t>Soluti</a:t>
              </a:r>
              <a:r>
                <a:rPr b="1" lang="en" sz="1700">
                  <a:solidFill>
                    <a:srgbClr val="38761D"/>
                  </a:solidFill>
                  <a:latin typeface="Oswald"/>
                  <a:ea typeface="Oswald"/>
                  <a:cs typeface="Oswald"/>
                  <a:sym typeface="Oswald"/>
                </a:rPr>
                <a:t>o</a:t>
              </a:r>
              <a:r>
                <a:rPr b="1" lang="en" sz="1700">
                  <a:solidFill>
                    <a:srgbClr val="38761D"/>
                  </a:solidFill>
                  <a:latin typeface="Oswald"/>
                  <a:ea typeface="Oswald"/>
                  <a:cs typeface="Oswald"/>
                  <a:sym typeface="Oswald"/>
                </a:rPr>
                <a:t>n</a:t>
              </a:r>
              <a:endParaRPr b="1" sz="1700">
                <a:solidFill>
                  <a:srgbClr val="38761D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54" name="Google Shape;154;p26"/>
            <p:cNvSpPr txBox="1"/>
            <p:nvPr/>
          </p:nvSpPr>
          <p:spPr>
            <a:xfrm>
              <a:off x="376499" y="2268436"/>
              <a:ext cx="2729729" cy="2025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Char char="●"/>
              </a:pPr>
              <a:r>
                <a:rPr lang="en" sz="1300">
                  <a:solidFill>
                    <a:schemeClr val="dk1"/>
                  </a:solidFill>
                </a:rPr>
                <a:t>Collects candidate info: Education, Skills, Sector, Location</a:t>
              </a:r>
              <a:br>
                <a:rPr lang="en" sz="1300">
                  <a:solidFill>
                    <a:schemeClr val="dk1"/>
                  </a:solidFill>
                </a:rPr>
              </a:br>
              <a:endParaRPr sz="1300">
                <a:solidFill>
                  <a:schemeClr val="dk1"/>
                </a:solidFill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Char char="●"/>
              </a:pPr>
              <a:r>
                <a:rPr lang="en" sz="1300">
                  <a:solidFill>
                    <a:schemeClr val="dk1"/>
                  </a:solidFill>
                </a:rPr>
                <a:t>Rule-based/ML-light filtering → Top 3–5 internships</a:t>
              </a:r>
              <a:br>
                <a:rPr lang="en" sz="1300">
                  <a:solidFill>
                    <a:schemeClr val="dk1"/>
                  </a:solidFill>
                </a:rPr>
              </a:br>
              <a:endParaRPr sz="1100">
                <a:solidFill>
                  <a:schemeClr val="dk1"/>
                </a:solidFill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Char char="●"/>
              </a:pPr>
              <a:r>
                <a:rPr lang="en" sz="1300">
                  <a:solidFill>
                    <a:schemeClr val="dk1"/>
                  </a:solidFill>
                </a:rPr>
                <a:t>Mobile-friendly, regional language support, simple UI</a:t>
              </a:r>
              <a:endParaRPr sz="13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pic>
          <p:nvPicPr>
            <p:cNvPr id="155" name="Google Shape;155;p26" title="8c2459dd87a262e29b78eb3881c0c8ea-removebg-preview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302200" y="1715450"/>
              <a:ext cx="417000" cy="417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6" name="Google Shape;156;p26"/>
          <p:cNvGrpSpPr/>
          <p:nvPr/>
        </p:nvGrpSpPr>
        <p:grpSpPr>
          <a:xfrm>
            <a:off x="3522100" y="1416715"/>
            <a:ext cx="3645850" cy="3211057"/>
            <a:chOff x="3486150" y="1111007"/>
            <a:chExt cx="3645850" cy="3302877"/>
          </a:xfrm>
        </p:grpSpPr>
        <p:sp>
          <p:nvSpPr>
            <p:cNvPr id="157" name="Google Shape;157;p26"/>
            <p:cNvSpPr txBox="1"/>
            <p:nvPr/>
          </p:nvSpPr>
          <p:spPr>
            <a:xfrm>
              <a:off x="4132000" y="1111007"/>
              <a:ext cx="30000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6"/>
            <p:cNvSpPr/>
            <p:nvPr/>
          </p:nvSpPr>
          <p:spPr>
            <a:xfrm>
              <a:off x="3486150" y="1866584"/>
              <a:ext cx="2611500" cy="2547300"/>
            </a:xfrm>
            <a:prstGeom prst="roundRect">
              <a:avLst>
                <a:gd fmla="val 16667" name="adj"/>
              </a:avLst>
            </a:prstGeom>
            <a:solidFill>
              <a:srgbClr val="C9DAF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59" name="Google Shape;159;p26"/>
            <p:cNvSpPr/>
            <p:nvPr/>
          </p:nvSpPr>
          <p:spPr>
            <a:xfrm>
              <a:off x="3905700" y="1733350"/>
              <a:ext cx="1921200" cy="471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60" name="Google Shape;160;p26"/>
            <p:cNvSpPr txBox="1"/>
            <p:nvPr/>
          </p:nvSpPr>
          <p:spPr>
            <a:xfrm>
              <a:off x="3840950" y="1805041"/>
              <a:ext cx="18705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38761D"/>
                  </a:solidFill>
                  <a:latin typeface="Oswald"/>
                  <a:ea typeface="Oswald"/>
                  <a:cs typeface="Oswald"/>
                  <a:sym typeface="Oswald"/>
                </a:rPr>
                <a:t>Proposed Solution</a:t>
              </a:r>
              <a:endParaRPr b="1">
                <a:solidFill>
                  <a:srgbClr val="38761D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61" name="Google Shape;161;p26"/>
            <p:cNvSpPr txBox="1"/>
            <p:nvPr/>
          </p:nvSpPr>
          <p:spPr>
            <a:xfrm>
              <a:off x="3486150" y="2228993"/>
              <a:ext cx="2611500" cy="20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Char char="●"/>
              </a:pPr>
              <a:r>
                <a:rPr lang="en" sz="1300">
                  <a:solidFill>
                    <a:schemeClr val="dk1"/>
                  </a:solidFill>
                </a:rPr>
                <a:t>Removes confusion of long internship lists</a:t>
              </a:r>
              <a:br>
                <a:rPr lang="en" sz="1300">
                  <a:solidFill>
                    <a:schemeClr val="dk1"/>
                  </a:solidFill>
                </a:rPr>
              </a:br>
              <a:endParaRPr sz="1300">
                <a:solidFill>
                  <a:schemeClr val="dk1"/>
                </a:solidFill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Char char="●"/>
              </a:pPr>
              <a:r>
                <a:rPr lang="en" sz="1300">
                  <a:solidFill>
                    <a:schemeClr val="dk1"/>
                  </a:solidFill>
                </a:rPr>
                <a:t>Gives personalized, relevant recommendations</a:t>
              </a:r>
              <a:br>
                <a:rPr lang="en" sz="1300">
                  <a:solidFill>
                    <a:schemeClr val="dk1"/>
                  </a:solidFill>
                </a:rPr>
              </a:br>
              <a:endParaRPr sz="1300">
                <a:solidFill>
                  <a:schemeClr val="dk1"/>
                </a:solidFill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Char char="●"/>
              </a:pPr>
              <a:r>
                <a:rPr lang="en" sz="1300">
                  <a:solidFill>
                    <a:schemeClr val="dk1"/>
                  </a:solidFill>
                </a:rPr>
                <a:t>Increases successful matches &amp; reduces dropouts</a:t>
              </a:r>
              <a:endParaRPr sz="1300">
                <a:solidFill>
                  <a:schemeClr val="dk1"/>
                </a:solidFill>
              </a:endParaRPr>
            </a:p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162" name="Google Shape;162;p26" title="110a414b2d52562f6a811b2b62aefd44-removebg-preview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358850" y="1760800"/>
              <a:ext cx="417000" cy="417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3" name="Google Shape;163;p26"/>
          <p:cNvGrpSpPr/>
          <p:nvPr/>
        </p:nvGrpSpPr>
        <p:grpSpPr>
          <a:xfrm>
            <a:off x="6257550" y="1958300"/>
            <a:ext cx="2724900" cy="2669480"/>
            <a:chOff x="6257550" y="1739701"/>
            <a:chExt cx="2724900" cy="2645407"/>
          </a:xfrm>
        </p:grpSpPr>
        <p:sp>
          <p:nvSpPr>
            <p:cNvPr id="164" name="Google Shape;164;p26"/>
            <p:cNvSpPr/>
            <p:nvPr/>
          </p:nvSpPr>
          <p:spPr>
            <a:xfrm>
              <a:off x="6257550" y="1928707"/>
              <a:ext cx="2611500" cy="2456400"/>
            </a:xfrm>
            <a:prstGeom prst="roundRect">
              <a:avLst>
                <a:gd fmla="val 16667" name="adj"/>
              </a:avLst>
            </a:prstGeom>
            <a:solidFill>
              <a:srgbClr val="C9DAF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65" name="Google Shape;165;p26"/>
            <p:cNvSpPr/>
            <p:nvPr/>
          </p:nvSpPr>
          <p:spPr>
            <a:xfrm>
              <a:off x="6677100" y="1768048"/>
              <a:ext cx="1772400" cy="385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66" name="Google Shape;166;p26"/>
            <p:cNvSpPr txBox="1"/>
            <p:nvPr/>
          </p:nvSpPr>
          <p:spPr>
            <a:xfrm>
              <a:off x="7021500" y="1739701"/>
              <a:ext cx="1479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38761D"/>
                  </a:solidFill>
                  <a:latin typeface="Oswald"/>
                  <a:ea typeface="Oswald"/>
                  <a:cs typeface="Oswald"/>
                  <a:sym typeface="Oswald"/>
                </a:rPr>
                <a:t>Novelty</a:t>
              </a:r>
              <a:endParaRPr b="1" sz="1700">
                <a:solidFill>
                  <a:srgbClr val="38761D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67" name="Google Shape;167;p26"/>
            <p:cNvSpPr txBox="1"/>
            <p:nvPr/>
          </p:nvSpPr>
          <p:spPr>
            <a:xfrm>
              <a:off x="6257550" y="2343374"/>
              <a:ext cx="2724900" cy="145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●"/>
              </a:pPr>
              <a:r>
                <a:rPr lang="en" sz="1200">
                  <a:solidFill>
                    <a:schemeClr val="dk1"/>
                  </a:solidFill>
                </a:rPr>
                <a:t>PMIS-specific solution, not generic job portal</a:t>
              </a:r>
              <a:br>
                <a:rPr lang="en" sz="1200">
                  <a:solidFill>
                    <a:schemeClr val="dk1"/>
                  </a:solidFill>
                </a:rPr>
              </a:br>
              <a:endParaRPr sz="1200">
                <a:solidFill>
                  <a:schemeClr val="dk1"/>
                </a:solidFill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●"/>
              </a:pPr>
              <a:r>
                <a:rPr lang="en" sz="1200">
                  <a:solidFill>
                    <a:schemeClr val="dk1"/>
                  </a:solidFill>
                </a:rPr>
                <a:t>Lightweight &amp; scalable, easy to integrate</a:t>
              </a:r>
              <a:br>
                <a:rPr lang="en" sz="1200">
                  <a:solidFill>
                    <a:schemeClr val="dk1"/>
                  </a:solidFill>
                </a:rPr>
              </a:br>
              <a:endParaRPr sz="1200">
                <a:solidFill>
                  <a:schemeClr val="dk1"/>
                </a:solidFill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●"/>
              </a:pPr>
              <a:r>
                <a:rPr lang="en" sz="1200">
                  <a:solidFill>
                    <a:schemeClr val="dk1"/>
                  </a:solidFill>
                </a:rPr>
                <a:t>Inclusive design: works on low-end devices, icon + language support</a:t>
              </a:r>
              <a:endParaRPr sz="12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</a:endParaRPr>
            </a:p>
          </p:txBody>
        </p:sp>
      </p:grpSp>
      <p:pic>
        <p:nvPicPr>
          <p:cNvPr id="168" name="Google Shape;168;p26" title="e9de37dd5860537d77431448ddf81f81-removebg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89425" y="1986900"/>
            <a:ext cx="377425" cy="37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6"/>
          <p:cNvSpPr txBox="1"/>
          <p:nvPr/>
        </p:nvSpPr>
        <p:spPr>
          <a:xfrm>
            <a:off x="622575" y="724975"/>
            <a:ext cx="54036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PM Internship Scheme Announced in 2024 -25 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Launched PILOT App on march 17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Challenges Faced by Students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Need of Our Recommendation Engine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70" name="Google Shape;170;p26"/>
          <p:cNvSpPr txBox="1"/>
          <p:nvPr/>
        </p:nvSpPr>
        <p:spPr>
          <a:xfrm>
            <a:off x="-2398675" y="4142750"/>
            <a:ext cx="626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71" name="Google Shape;171;p26" title="PM Internship Scheme_ 700,000 Internships Planned for FY26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32025" y="687000"/>
            <a:ext cx="1850400" cy="1111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7"/>
          <p:cNvSpPr txBox="1"/>
          <p:nvPr>
            <p:ph type="title"/>
          </p:nvPr>
        </p:nvSpPr>
        <p:spPr>
          <a:xfrm>
            <a:off x="1887525" y="-75050"/>
            <a:ext cx="42549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sz="2000"/>
          </a:p>
        </p:txBody>
      </p:sp>
      <p:sp>
        <p:nvSpPr>
          <p:cNvPr id="179" name="Google Shape;179;p27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80" name="Google Shape;180;p27"/>
          <p:cNvSpPr txBox="1"/>
          <p:nvPr>
            <p:ph idx="11" type="ftr"/>
          </p:nvPr>
        </p:nvSpPr>
        <p:spPr>
          <a:xfrm>
            <a:off x="3486150" y="4767265"/>
            <a:ext cx="2403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81" name="Google Shape;181;p27"/>
          <p:cNvSpPr/>
          <p:nvPr/>
        </p:nvSpPr>
        <p:spPr>
          <a:xfrm>
            <a:off x="74300" y="105450"/>
            <a:ext cx="704400" cy="3774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Pixel pirates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www.sih.gov.in/img1/SIH-Logo.png" id="182" name="Google Shape;18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0274" y="34675"/>
            <a:ext cx="614800" cy="3124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27"/>
          <p:cNvGrpSpPr/>
          <p:nvPr/>
        </p:nvGrpSpPr>
        <p:grpSpPr>
          <a:xfrm>
            <a:off x="74386" y="720195"/>
            <a:ext cx="2155102" cy="2479149"/>
            <a:chOff x="2879221" y="962540"/>
            <a:chExt cx="3396000" cy="3218419"/>
          </a:xfrm>
        </p:grpSpPr>
        <p:sp>
          <p:nvSpPr>
            <p:cNvPr id="184" name="Google Shape;184;p27"/>
            <p:cNvSpPr/>
            <p:nvPr/>
          </p:nvSpPr>
          <p:spPr>
            <a:xfrm>
              <a:off x="2879221" y="3376360"/>
              <a:ext cx="3396000" cy="804600"/>
            </a:xfrm>
            <a:prstGeom prst="roundRect">
              <a:avLst>
                <a:gd fmla="val 50000" name="adj"/>
              </a:avLst>
            </a:prstGeom>
            <a:solidFill>
              <a:srgbClr val="E8F4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8850" lIns="182875" spcFirstLastPara="1" rIns="182875" wrap="square" tIns="1188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1010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5" name="Google Shape;185;p27"/>
            <p:cNvSpPr/>
            <p:nvPr/>
          </p:nvSpPr>
          <p:spPr>
            <a:xfrm>
              <a:off x="2879221" y="2571753"/>
              <a:ext cx="3396000" cy="804600"/>
            </a:xfrm>
            <a:prstGeom prst="roundRect">
              <a:avLst>
                <a:gd fmla="val 50000" name="adj"/>
              </a:avLst>
            </a:prstGeom>
            <a:solidFill>
              <a:srgbClr val="E8F4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8850" lIns="182875" spcFirstLastPara="1" rIns="182875" wrap="square" tIns="1188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1010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6" name="Google Shape;186;p27"/>
            <p:cNvSpPr/>
            <p:nvPr/>
          </p:nvSpPr>
          <p:spPr>
            <a:xfrm>
              <a:off x="2879221" y="962540"/>
              <a:ext cx="3396000" cy="804600"/>
            </a:xfrm>
            <a:prstGeom prst="roundRect">
              <a:avLst>
                <a:gd fmla="val 50000" name="adj"/>
              </a:avLst>
            </a:prstGeom>
            <a:solidFill>
              <a:srgbClr val="E8F4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8850" lIns="182875" spcFirstLastPara="1" rIns="182875" wrap="square" tIns="1188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1010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7" name="Google Shape;187;p27"/>
            <p:cNvSpPr/>
            <p:nvPr/>
          </p:nvSpPr>
          <p:spPr>
            <a:xfrm>
              <a:off x="2879221" y="1767147"/>
              <a:ext cx="3396000" cy="804600"/>
            </a:xfrm>
            <a:prstGeom prst="roundRect">
              <a:avLst>
                <a:gd fmla="val 50000" name="adj"/>
              </a:avLst>
            </a:prstGeom>
            <a:solidFill>
              <a:srgbClr val="E8F4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8850" lIns="182875" spcFirstLastPara="1" rIns="182875" wrap="square" tIns="1188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1010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88" name="Google Shape;188;p27"/>
          <p:cNvSpPr txBox="1"/>
          <p:nvPr/>
        </p:nvSpPr>
        <p:spPr>
          <a:xfrm>
            <a:off x="0" y="844475"/>
            <a:ext cx="168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         React.js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89" name="Google Shape;189;p27"/>
          <p:cNvSpPr txBox="1"/>
          <p:nvPr/>
        </p:nvSpPr>
        <p:spPr>
          <a:xfrm>
            <a:off x="235800" y="1473100"/>
            <a:ext cx="1444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Python ( FastAPI)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90" name="Google Shape;190;p27"/>
          <p:cNvSpPr txBox="1"/>
          <p:nvPr/>
        </p:nvSpPr>
        <p:spPr>
          <a:xfrm>
            <a:off x="-167825" y="2063475"/>
            <a:ext cx="144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           </a:t>
            </a:r>
            <a:r>
              <a:rPr b="1" lang="en" sz="1000">
                <a:solidFill>
                  <a:schemeClr val="dk1"/>
                </a:solidFill>
              </a:rPr>
              <a:t>MySQL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91" name="Google Shape;191;p27"/>
          <p:cNvSpPr txBox="1"/>
          <p:nvPr/>
        </p:nvSpPr>
        <p:spPr>
          <a:xfrm>
            <a:off x="206400" y="2629725"/>
            <a:ext cx="150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Rule-based Filtering + Weighted Scoring</a:t>
            </a:r>
            <a:endParaRPr/>
          </a:p>
        </p:txBody>
      </p:sp>
      <p:sp>
        <p:nvSpPr>
          <p:cNvPr id="192" name="Google Shape;192;p27"/>
          <p:cNvSpPr/>
          <p:nvPr/>
        </p:nvSpPr>
        <p:spPr>
          <a:xfrm>
            <a:off x="74386" y="3199347"/>
            <a:ext cx="2155200" cy="619800"/>
          </a:xfrm>
          <a:prstGeom prst="roundRect">
            <a:avLst>
              <a:gd fmla="val 50000" name="adj"/>
            </a:avLst>
          </a:prstGeom>
          <a:solidFill>
            <a:srgbClr val="E8F4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8850" lIns="182875" spcFirstLastPara="1" rIns="182875" wrap="square" tIns="118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Google Translate API </a:t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193" name="Google Shape;193;p27"/>
          <p:cNvSpPr/>
          <p:nvPr/>
        </p:nvSpPr>
        <p:spPr>
          <a:xfrm>
            <a:off x="74386" y="3819160"/>
            <a:ext cx="2155200" cy="619800"/>
          </a:xfrm>
          <a:prstGeom prst="roundRect">
            <a:avLst>
              <a:gd fmla="val 50000" name="adj"/>
            </a:avLst>
          </a:prstGeom>
          <a:solidFill>
            <a:srgbClr val="E8F4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8850" lIns="182875" spcFirstLastPara="1" rIns="182875" wrap="square" tIns="118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Cloud-based (AWS)</a:t>
            </a:r>
            <a:endParaRPr sz="1200">
              <a:solidFill>
                <a:srgbClr val="01010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94" name="Google Shape;19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0902" y="802175"/>
            <a:ext cx="523201" cy="438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5" name="Google Shape;195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4400" y="1425925"/>
            <a:ext cx="479701" cy="43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15100" y="2070125"/>
            <a:ext cx="523200" cy="43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60900" y="2665323"/>
            <a:ext cx="523201" cy="43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43725" y="3289938"/>
            <a:ext cx="479700" cy="43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82650" y="3979002"/>
            <a:ext cx="523199" cy="35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" name="Google Shape;200;p27"/>
          <p:cNvGrpSpPr/>
          <p:nvPr/>
        </p:nvGrpSpPr>
        <p:grpSpPr>
          <a:xfrm>
            <a:off x="2583600" y="897891"/>
            <a:ext cx="2918279" cy="3499285"/>
            <a:chOff x="376499" y="1715438"/>
            <a:chExt cx="2918279" cy="2703821"/>
          </a:xfrm>
        </p:grpSpPr>
        <p:sp>
          <p:nvSpPr>
            <p:cNvPr id="201" name="Google Shape;201;p27"/>
            <p:cNvSpPr/>
            <p:nvPr/>
          </p:nvSpPr>
          <p:spPr>
            <a:xfrm>
              <a:off x="463978" y="1871960"/>
              <a:ext cx="2830800" cy="25473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02" name="Google Shape;202;p27"/>
            <p:cNvSpPr/>
            <p:nvPr/>
          </p:nvSpPr>
          <p:spPr>
            <a:xfrm>
              <a:off x="901941" y="1738720"/>
              <a:ext cx="1921200" cy="399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03" name="Google Shape;203;p27"/>
            <p:cNvSpPr txBox="1"/>
            <p:nvPr/>
          </p:nvSpPr>
          <p:spPr>
            <a:xfrm>
              <a:off x="1335209" y="1715438"/>
              <a:ext cx="1320300" cy="34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38761D"/>
                  </a:solidFill>
                  <a:latin typeface="Oswald"/>
                  <a:ea typeface="Oswald"/>
                  <a:cs typeface="Oswald"/>
                  <a:sym typeface="Oswald"/>
                </a:rPr>
                <a:t>Process</a:t>
              </a:r>
              <a:endParaRPr b="1" sz="1700">
                <a:solidFill>
                  <a:srgbClr val="38761D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04" name="Google Shape;204;p27"/>
            <p:cNvSpPr txBox="1"/>
            <p:nvPr/>
          </p:nvSpPr>
          <p:spPr>
            <a:xfrm>
              <a:off x="376499" y="2268436"/>
              <a:ext cx="2729700" cy="202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AutoNum type="arabicPeriod"/>
              </a:pPr>
              <a:r>
                <a:rPr lang="en">
                  <a:solidFill>
                    <a:schemeClr val="dk1"/>
                  </a:solidFill>
                </a:rPr>
                <a:t>Candidate gives input (education, skills, sector, location).</a:t>
              </a:r>
              <a:endParaRPr>
                <a:solidFill>
                  <a:schemeClr val="dk1"/>
                </a:solidFill>
              </a:endParaRPr>
            </a:p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AutoNum type="arabicPeriod"/>
              </a:pPr>
              <a:r>
                <a:rPr lang="en">
                  <a:solidFill>
                    <a:schemeClr val="dk1"/>
                  </a:solidFill>
                </a:rPr>
                <a:t>Backend filters internships.</a:t>
              </a:r>
              <a:endParaRPr>
                <a:solidFill>
                  <a:schemeClr val="dk1"/>
                </a:solidFill>
              </a:endParaRPr>
            </a:p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AutoNum type="arabicPeriod"/>
              </a:pPr>
              <a:r>
                <a:rPr lang="en">
                  <a:solidFill>
                    <a:schemeClr val="dk1"/>
                  </a:solidFill>
                </a:rPr>
                <a:t>Ranks internships based on match score.</a:t>
              </a:r>
              <a:endParaRPr>
                <a:solidFill>
                  <a:schemeClr val="dk1"/>
                </a:solidFill>
              </a:endParaRPr>
            </a:p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AutoNum type="arabicPeriod"/>
              </a:pPr>
              <a:r>
                <a:rPr lang="en">
                  <a:solidFill>
                    <a:schemeClr val="dk1"/>
                  </a:solidFill>
                </a:rPr>
                <a:t>Sends top 3–5 internships.</a:t>
              </a:r>
              <a:endParaRPr>
                <a:solidFill>
                  <a:schemeClr val="dk1"/>
                </a:solidFill>
              </a:endParaRPr>
            </a:p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AutoNum type="arabicPeriod"/>
              </a:pPr>
              <a:r>
                <a:rPr lang="en">
                  <a:solidFill>
                    <a:schemeClr val="dk1"/>
                  </a:solidFill>
                </a:rPr>
                <a:t>Displays as recommendation cards on UI.</a:t>
              </a:r>
              <a:endParaRPr>
                <a:solidFill>
                  <a:schemeClr val="dk1"/>
                </a:solidFill>
              </a:endParaRPr>
            </a:p>
          </p:txBody>
        </p:sp>
        <p:pic>
          <p:nvPicPr>
            <p:cNvPr id="205" name="Google Shape;205;p27" title="8c2459dd87a262e29b78eb3881c0c8ea-removebg-preview.png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2302200" y="1715450"/>
              <a:ext cx="417000" cy="417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6" name="Google Shape;206;p27"/>
          <p:cNvGrpSpPr/>
          <p:nvPr/>
        </p:nvGrpSpPr>
        <p:grpSpPr>
          <a:xfrm>
            <a:off x="5962025" y="958121"/>
            <a:ext cx="2724653" cy="3609121"/>
            <a:chOff x="463970" y="1738720"/>
            <a:chExt cx="2830808" cy="2950074"/>
          </a:xfrm>
        </p:grpSpPr>
        <p:sp>
          <p:nvSpPr>
            <p:cNvPr id="207" name="Google Shape;207;p27"/>
            <p:cNvSpPr/>
            <p:nvPr/>
          </p:nvSpPr>
          <p:spPr>
            <a:xfrm>
              <a:off x="463978" y="1871960"/>
              <a:ext cx="2830800" cy="25473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9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8000" lIns="88000" spcFirstLastPara="1" rIns="88000" wrap="square" tIns="8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48"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08" name="Google Shape;208;p27"/>
            <p:cNvSpPr/>
            <p:nvPr/>
          </p:nvSpPr>
          <p:spPr>
            <a:xfrm>
              <a:off x="901941" y="1738720"/>
              <a:ext cx="1921200" cy="399900"/>
            </a:xfrm>
            <a:prstGeom prst="rect">
              <a:avLst/>
            </a:prstGeom>
            <a:solidFill>
              <a:schemeClr val="lt1"/>
            </a:solidFill>
            <a:ln cap="flat" cmpd="sng" w="9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8000" lIns="88000" spcFirstLastPara="1" rIns="88000" wrap="square" tIns="8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48"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09" name="Google Shape;209;p27"/>
            <p:cNvSpPr txBox="1"/>
            <p:nvPr/>
          </p:nvSpPr>
          <p:spPr>
            <a:xfrm>
              <a:off x="1013460" y="1769171"/>
              <a:ext cx="1921200" cy="33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88000" lIns="88000" spcFirstLastPara="1" rIns="88000" wrap="square" tIns="880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40">
                  <a:solidFill>
                    <a:srgbClr val="38761D"/>
                  </a:solidFill>
                  <a:latin typeface="Oswald"/>
                  <a:ea typeface="Oswald"/>
                  <a:cs typeface="Oswald"/>
                  <a:sym typeface="Oswald"/>
                </a:rPr>
                <a:t>Implementation Plan</a:t>
              </a:r>
              <a:endParaRPr b="1" sz="1540">
                <a:solidFill>
                  <a:srgbClr val="38761D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10" name="Google Shape;210;p27"/>
            <p:cNvSpPr txBox="1"/>
            <p:nvPr/>
          </p:nvSpPr>
          <p:spPr>
            <a:xfrm>
              <a:off x="463970" y="2312494"/>
              <a:ext cx="2748300" cy="23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8000" lIns="88000" spcFirstLastPara="1" rIns="88000" wrap="square" tIns="88000">
              <a:noAutofit/>
            </a:bodyPr>
            <a:lstStyle/>
            <a:p>
              <a:pPr indent="-311718" lvl="0" marL="440073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44"/>
                <a:buAutoNum type="arabicPeriod"/>
              </a:pPr>
              <a:r>
                <a:rPr lang="en" sz="1444">
                  <a:solidFill>
                    <a:schemeClr val="dk1"/>
                  </a:solidFill>
                </a:rPr>
                <a:t>Requirement Gathering.</a:t>
              </a:r>
              <a:endParaRPr sz="1444">
                <a:solidFill>
                  <a:schemeClr val="dk1"/>
                </a:solidFill>
              </a:endParaRPr>
            </a:p>
            <a:p>
              <a:pPr indent="-311718" lvl="0" marL="440073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44"/>
                <a:buAutoNum type="arabicPeriod"/>
              </a:pPr>
              <a:r>
                <a:rPr lang="en" sz="1444">
                  <a:solidFill>
                    <a:schemeClr val="dk1"/>
                  </a:solidFill>
                </a:rPr>
                <a:t>Data Preparation.</a:t>
              </a:r>
              <a:endParaRPr sz="1444">
                <a:solidFill>
                  <a:schemeClr val="dk1"/>
                </a:solidFill>
              </a:endParaRPr>
            </a:p>
            <a:p>
              <a:pPr indent="-311718" lvl="0" marL="440073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44"/>
                <a:buAutoNum type="arabicPeriod"/>
              </a:pPr>
              <a:r>
                <a:rPr lang="en" sz="1444">
                  <a:solidFill>
                    <a:schemeClr val="dk1"/>
                  </a:solidFill>
                </a:rPr>
                <a:t>Build Recommendation Engine.</a:t>
              </a:r>
              <a:endParaRPr sz="1444">
                <a:solidFill>
                  <a:schemeClr val="dk1"/>
                </a:solidFill>
              </a:endParaRPr>
            </a:p>
            <a:p>
              <a:pPr indent="-311718" lvl="0" marL="440073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44"/>
                <a:buAutoNum type="arabicPeriod"/>
              </a:pPr>
              <a:r>
                <a:rPr lang="en" sz="1444">
                  <a:solidFill>
                    <a:schemeClr val="dk1"/>
                  </a:solidFill>
                </a:rPr>
                <a:t>Develop UI.</a:t>
              </a:r>
              <a:endParaRPr sz="1444">
                <a:solidFill>
                  <a:schemeClr val="dk1"/>
                </a:solidFill>
              </a:endParaRPr>
            </a:p>
            <a:p>
              <a:pPr indent="-311718" lvl="0" marL="440073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44"/>
                <a:buAutoNum type="arabicPeriod"/>
              </a:pPr>
              <a:r>
                <a:rPr lang="en" sz="1444">
                  <a:solidFill>
                    <a:schemeClr val="dk1"/>
                  </a:solidFill>
                </a:rPr>
                <a:t>Integrate &amp; Test.</a:t>
              </a:r>
              <a:endParaRPr sz="1444">
                <a:solidFill>
                  <a:schemeClr val="dk1"/>
                </a:solidFill>
              </a:endParaRPr>
            </a:p>
            <a:p>
              <a:pPr indent="-311718" lvl="0" marL="440073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44"/>
                <a:buAutoNum type="arabicPeriod"/>
              </a:pPr>
              <a:r>
                <a:rPr lang="en" sz="1444">
                  <a:solidFill>
                    <a:schemeClr val="dk1"/>
                  </a:solidFill>
                </a:rPr>
                <a:t>Deploy &amp; Get Feedback.</a:t>
              </a:r>
              <a:endParaRPr sz="1444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8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218" name="Google Shape;218;p28"/>
          <p:cNvSpPr txBox="1"/>
          <p:nvPr/>
        </p:nvSpPr>
        <p:spPr>
          <a:xfrm>
            <a:off x="1186325" y="884975"/>
            <a:ext cx="67215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219" name="Google Shape;219;p28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b="1" i="0" lang="en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0" name="Google Shape;220;p28"/>
          <p:cNvSpPr txBox="1"/>
          <p:nvPr>
            <p:ph idx="11" type="ftr"/>
          </p:nvPr>
        </p:nvSpPr>
        <p:spPr>
          <a:xfrm>
            <a:off x="3486150" y="4767265"/>
            <a:ext cx="2403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r>
              <a:t/>
            </a:r>
            <a:endParaRPr b="0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221" name="Google Shape;221;p28"/>
          <p:cNvSpPr/>
          <p:nvPr/>
        </p:nvSpPr>
        <p:spPr>
          <a:xfrm>
            <a:off x="247330" y="189185"/>
            <a:ext cx="939000" cy="6054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Pixel pirates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www.sih.gov.in/img1/SIH-Logo.png" id="222" name="Google Shape;22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1024" y="42823"/>
            <a:ext cx="1656840" cy="84215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8"/>
          <p:cNvSpPr/>
          <p:nvPr/>
        </p:nvSpPr>
        <p:spPr>
          <a:xfrm>
            <a:off x="152400" y="1155638"/>
            <a:ext cx="2599500" cy="3276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●"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Mobile-first approach → accessible for all users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●"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Lightweight app → works offline in remote areas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●"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Multilingual + voice-enabled support for inclusivity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●"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Uses existing APIs, open datasets &amp; low-cost Gov Cloud hosting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4" name="Google Shape;224;p28"/>
          <p:cNvSpPr txBox="1"/>
          <p:nvPr/>
        </p:nvSpPr>
        <p:spPr>
          <a:xfrm>
            <a:off x="152400" y="1524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225" name="Google Shape;225;p28"/>
          <p:cNvSpPr/>
          <p:nvPr/>
        </p:nvSpPr>
        <p:spPr>
          <a:xfrm>
            <a:off x="3236325" y="1183175"/>
            <a:ext cx="2599500" cy="3276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●"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●"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Data privacy &amp; user consent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●"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Poor connectivity in rural/remote areas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●"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Bias in AI-based recommendations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●"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Low digital literacy among first-gen learners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6" name="Google Shape;226;p28"/>
          <p:cNvSpPr/>
          <p:nvPr/>
        </p:nvSpPr>
        <p:spPr>
          <a:xfrm>
            <a:off x="6320250" y="1154225"/>
            <a:ext cx="2599500" cy="33051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●"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GDPR-compliant</a:t>
            </a:r>
            <a:r>
              <a:rPr lang="en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">
                <a:latin typeface="Oswald"/>
                <a:ea typeface="Oswald"/>
                <a:cs typeface="Oswald"/>
                <a:sym typeface="Oswald"/>
              </a:rPr>
              <a:t>privacy &amp; secure data storage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●"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Offline-first design with background sync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●"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Fairness-aware &amp; explainable recommendation algorithms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●"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Simple icon + voice-based UI for low literacy users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7" name="Google Shape;227;p28"/>
          <p:cNvSpPr/>
          <p:nvPr/>
        </p:nvSpPr>
        <p:spPr>
          <a:xfrm>
            <a:off x="435751" y="950200"/>
            <a:ext cx="2032800" cy="399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  <a:latin typeface="Oswald"/>
                <a:ea typeface="Oswald"/>
                <a:cs typeface="Oswald"/>
                <a:sym typeface="Oswald"/>
              </a:rPr>
              <a:t>         </a:t>
            </a:r>
            <a:r>
              <a:rPr b="1" lang="en">
                <a:solidFill>
                  <a:srgbClr val="38761D"/>
                </a:solidFill>
                <a:latin typeface="Oswald"/>
                <a:ea typeface="Oswald"/>
                <a:cs typeface="Oswald"/>
                <a:sym typeface="Oswald"/>
              </a:rPr>
              <a:t>FEASIBILITY</a:t>
            </a:r>
            <a:r>
              <a:rPr b="1" lang="en">
                <a:solidFill>
                  <a:srgbClr val="38761D"/>
                </a:solidFill>
                <a:latin typeface="Oswald"/>
                <a:ea typeface="Oswald"/>
                <a:cs typeface="Oswald"/>
                <a:sym typeface="Oswald"/>
              </a:rPr>
              <a:t>  </a:t>
            </a:r>
            <a:endParaRPr b="1">
              <a:solidFill>
                <a:srgbClr val="38761D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8" name="Google Shape;228;p28"/>
          <p:cNvSpPr/>
          <p:nvPr/>
        </p:nvSpPr>
        <p:spPr>
          <a:xfrm>
            <a:off x="3575466" y="950195"/>
            <a:ext cx="1921200" cy="399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  <a:latin typeface="Oswald"/>
                <a:ea typeface="Oswald"/>
                <a:cs typeface="Oswald"/>
                <a:sym typeface="Oswald"/>
              </a:rPr>
              <a:t>CHALLENGES</a:t>
            </a:r>
            <a:endParaRPr b="1">
              <a:solidFill>
                <a:srgbClr val="38761D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9" name="Google Shape;229;p28"/>
          <p:cNvSpPr/>
          <p:nvPr/>
        </p:nvSpPr>
        <p:spPr>
          <a:xfrm>
            <a:off x="6659391" y="950195"/>
            <a:ext cx="1921200" cy="399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38761D"/>
                </a:solidFill>
                <a:latin typeface="Oswald"/>
                <a:ea typeface="Oswald"/>
                <a:cs typeface="Oswald"/>
                <a:sym typeface="Oswald"/>
              </a:rPr>
              <a:t>STRATEGIES</a:t>
            </a:r>
            <a:endParaRPr b="1" sz="1700">
              <a:solidFill>
                <a:srgbClr val="38761D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9" title="e9de37dd5860537d77431448ddf81f81-removebg-preview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3815549" y="1577925"/>
            <a:ext cx="1743050" cy="174307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9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9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238" name="Google Shape;238;p29"/>
          <p:cNvSpPr txBox="1"/>
          <p:nvPr/>
        </p:nvSpPr>
        <p:spPr>
          <a:xfrm>
            <a:off x="457200" y="1900240"/>
            <a:ext cx="7038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39" name="Google Shape;239;p29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b="1" i="0" lang="en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0" name="Google Shape;240;p29"/>
          <p:cNvSpPr txBox="1"/>
          <p:nvPr>
            <p:ph idx="11" type="ftr"/>
          </p:nvPr>
        </p:nvSpPr>
        <p:spPr>
          <a:xfrm>
            <a:off x="3094675" y="4767265"/>
            <a:ext cx="240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r>
              <a:t/>
            </a:r>
            <a:endParaRPr b="0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241" name="Google Shape;241;p29"/>
          <p:cNvSpPr/>
          <p:nvPr/>
        </p:nvSpPr>
        <p:spPr>
          <a:xfrm>
            <a:off x="247330" y="189184"/>
            <a:ext cx="938893" cy="605501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Pixel pirates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www.sih.gov.in/img1/SIH-Logo.png" id="242" name="Google Shape;24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1024" y="42823"/>
            <a:ext cx="1656840" cy="84215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9"/>
          <p:cNvSpPr/>
          <p:nvPr/>
        </p:nvSpPr>
        <p:spPr>
          <a:xfrm>
            <a:off x="1426700" y="1026525"/>
            <a:ext cx="2501100" cy="3218700"/>
          </a:xfrm>
          <a:prstGeom prst="flowChartAlternateProcess">
            <a:avLst/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●"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Impact on Target Audience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●"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Helps rural and first-generation learners find relevant internships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●"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Encourages more participation in PMIS scheme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4" name="Google Shape;244;p29"/>
          <p:cNvSpPr/>
          <p:nvPr/>
        </p:nvSpPr>
        <p:spPr>
          <a:xfrm>
            <a:off x="5330525" y="1026525"/>
            <a:ext cx="2501100" cy="3218700"/>
          </a:xfrm>
          <a:prstGeom prst="flowChartAlternateProcess">
            <a:avLst/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●"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Social: Empowers youth, bridges urban-rural gap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●"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Economic: Better job readiness, improved employability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●"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Government: Higher success rate of internship matching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●"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Scalability: Can be used across India with minimal changes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5" name="Google Shape;245;p29"/>
          <p:cNvSpPr/>
          <p:nvPr/>
        </p:nvSpPr>
        <p:spPr>
          <a:xfrm>
            <a:off x="1888850" y="884975"/>
            <a:ext cx="1576800" cy="27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rPr>
              <a:t>IMPACT</a:t>
            </a:r>
            <a:endParaRPr b="1">
              <a:solidFill>
                <a:schemeClr val="accent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6" name="Google Shape;246;p29"/>
          <p:cNvSpPr/>
          <p:nvPr/>
        </p:nvSpPr>
        <p:spPr>
          <a:xfrm>
            <a:off x="5798125" y="884975"/>
            <a:ext cx="1522500" cy="27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rPr>
              <a:t>BENEFITS</a:t>
            </a:r>
            <a:endParaRPr b="1">
              <a:solidFill>
                <a:schemeClr val="accent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"/>
          <p:cNvSpPr/>
          <p:nvPr/>
        </p:nvSpPr>
        <p:spPr>
          <a:xfrm>
            <a:off x="2819925" y="1306675"/>
            <a:ext cx="5866800" cy="2361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53" name="Google Shape;253;p30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0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255" name="Google Shape;255;p30"/>
          <p:cNvSpPr txBox="1"/>
          <p:nvPr/>
        </p:nvSpPr>
        <p:spPr>
          <a:xfrm>
            <a:off x="457200" y="2096447"/>
            <a:ext cx="7038975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0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r>
              <a:rPr b="1" lang="en">
                <a:solidFill>
                  <a:srgbClr val="FFFFFF"/>
                </a:solidFill>
              </a:rPr>
              <a:t>6</a:t>
            </a:r>
            <a:endParaRPr b="1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57" name="Google Shape;257;p30"/>
          <p:cNvSpPr txBox="1"/>
          <p:nvPr>
            <p:ph idx="11" type="ftr"/>
          </p:nvPr>
        </p:nvSpPr>
        <p:spPr>
          <a:xfrm>
            <a:off x="3486150" y="4767265"/>
            <a:ext cx="2403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258" name="Google Shape;258;p30"/>
          <p:cNvSpPr/>
          <p:nvPr/>
        </p:nvSpPr>
        <p:spPr>
          <a:xfrm>
            <a:off x="247330" y="189184"/>
            <a:ext cx="938893" cy="605501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Pixel pirates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www.sih.gov.in/img1/SIH-Logo.png" id="259" name="Google Shape;25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1024" y="42823"/>
            <a:ext cx="1656840" cy="842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0" title="adb460f5b5315eb87d74781e8e8ccd97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350" y="1807600"/>
            <a:ext cx="1972410" cy="197241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0"/>
          <p:cNvSpPr txBox="1"/>
          <p:nvPr/>
        </p:nvSpPr>
        <p:spPr>
          <a:xfrm>
            <a:off x="3074825" y="1481075"/>
            <a:ext cx="53661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PM Internship Scheme History</a:t>
            </a:r>
            <a:endParaRPr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" sz="1300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5"/>
              </a:rPr>
              <a:t>https://www.pib.gov.in/PressReleseDetailm.aspx?PRID=2112011</a:t>
            </a:r>
            <a:endParaRPr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Recommendation System Approach</a:t>
            </a:r>
            <a:br>
              <a:rPr lang="en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" sz="1300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6"/>
              </a:rPr>
              <a:t>https://en.wikipedia.org/wiki/Recommender_system?utm_source=chatgpt.com#Approaches</a:t>
            </a:r>
            <a:endParaRPr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</a:br>
            <a:endParaRPr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</a:br>
            <a:endParaRPr sz="1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www.sih.gov.in/img1/SIH-Logo.png" id="266" name="Google Shape;26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6624" y="136723"/>
            <a:ext cx="1656840" cy="842151"/>
          </a:xfrm>
          <a:prstGeom prst="rect">
            <a:avLst/>
          </a:prstGeom>
          <a:noFill/>
          <a:ln>
            <a:noFill/>
          </a:ln>
        </p:spPr>
      </p:pic>
      <p:sp>
        <p:nvSpPr>
          <p:cNvPr descr="Your startup LOGO" id="267" name="Google Shape;267;p31"/>
          <p:cNvSpPr/>
          <p:nvPr/>
        </p:nvSpPr>
        <p:spPr>
          <a:xfrm>
            <a:off x="247330" y="189185"/>
            <a:ext cx="939000" cy="6054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Pixel pirates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1"/>
          <p:cNvSpPr txBox="1"/>
          <p:nvPr/>
        </p:nvSpPr>
        <p:spPr>
          <a:xfrm>
            <a:off x="3352525" y="2056050"/>
            <a:ext cx="59805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69" name="Google Shape;269;p31"/>
          <p:cNvSpPr/>
          <p:nvPr/>
        </p:nvSpPr>
        <p:spPr>
          <a:xfrm>
            <a:off x="0" y="4766072"/>
            <a:ext cx="9144000" cy="3774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swald"/>
              <a:buNone/>
            </a:pPr>
            <a:r>
              <a:rPr lang="en" sz="9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/>
          </a:p>
        </p:txBody>
      </p:sp>
      <p:pic>
        <p:nvPicPr>
          <p:cNvPr id="270" name="Google Shape;270;p31" title="629aa00b1b4b8489dc5b2723b3fe8318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1238" y="710543"/>
            <a:ext cx="3861525" cy="412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